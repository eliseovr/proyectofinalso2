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93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2E5FAC">
              <a:alpha val="20000"/>
            </a:srgbClr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8C6B">
              <a:alpha val="16000"/>
            </a:srgbClr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 Distribuida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Seguridad · Protocolos · Diseño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456432"/>
            <a:ext cx="163311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16331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1.2/1.3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4054" y="3456432"/>
            <a:ext cx="2900477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2264054" y="3456432"/>
            <a:ext cx="29004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AES-256-GCM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92547" y="3456432"/>
            <a:ext cx="220919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292547" y="3456432"/>
            <a:ext cx="22091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Factor 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9754" y="3456432"/>
            <a:ext cx="1517904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7629754" y="345643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E2E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E5FAC">
              <a:alpha val="45000"/>
            </a:srgbClr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Panamericana·  Facultad de Ingeniería y </a:t>
            </a:r>
            <a:r>
              <a:rPr lang="en-US" sz="115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</a:t>
            </a: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64008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66344" y="11887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188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 y Arquitectura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20040" y="204825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320040" y="2048256"/>
            <a:ext cx="64008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466344" y="2048256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04825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Aplicación (JSON + TLS)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64008" cy="731520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66344" y="290779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Seguridad y Cifrado E2E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320040" y="3767328"/>
            <a:ext cx="64008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466344" y="3767328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7673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— Base de Datos SQLite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64008" cy="731520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855464" y="118872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0" y="1188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Concurrencia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709160" y="204825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8" name="Shape 26"/>
          <p:cNvSpPr/>
          <p:nvPr/>
        </p:nvSpPr>
        <p:spPr>
          <a:xfrm>
            <a:off x="4709160" y="2048256"/>
            <a:ext cx="64008" cy="731520"/>
          </a:xfrm>
          <a:prstGeom prst="rect">
            <a:avLst/>
          </a:prstGeom>
          <a:solidFill>
            <a:srgbClr val="6B48C4"/>
          </a:solidFill>
          <a:ln w="12700">
            <a:solidFill>
              <a:srgbClr val="6B48C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4855464" y="2048256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4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86400" y="204825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(Clases, Casos de Uso, Secuencia)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709160" y="29077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2" name="Shape 30"/>
          <p:cNvSpPr/>
          <p:nvPr/>
        </p:nvSpPr>
        <p:spPr>
          <a:xfrm>
            <a:off x="4709160" y="2907792"/>
            <a:ext cx="64008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4855464" y="290779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6400" y="29077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 Incidencias Conocidas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709160" y="376732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6" name="Shape 34"/>
          <p:cNvSpPr/>
          <p:nvPr/>
        </p:nvSpPr>
        <p:spPr>
          <a:xfrm>
            <a:off x="4709160" y="3767328"/>
            <a:ext cx="64008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4855464" y="3767328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486400" y="37673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Referencias APA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Arquitectura General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cliente-servidor centralizado — TCP + TLS 1.2/1.3 — Puerto 9443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8229600" cy="34930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Módulos del Proyecto (Gradle)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 — compilación incremental independiente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8892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20700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6642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57784" y="2157984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77724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JSON (Paquete / TipoPaquete)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57784" y="2706624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777240" y="2651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BCrypt (jBCrypt factor 12)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57784" y="3255264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777240" y="3200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TLS compartida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57784" y="3803904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6"/>
          <p:cNvSpPr/>
          <p:nvPr/>
        </p:nvSpPr>
        <p:spPr>
          <a:xfrm>
            <a:off x="77724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 de serialización JSON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264408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8"/>
          <p:cNvSpPr/>
          <p:nvPr/>
        </p:nvSpPr>
        <p:spPr>
          <a:xfrm>
            <a:off x="3264408" y="1143000"/>
            <a:ext cx="2788920" cy="914400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07008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64408" y="16642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3502152" y="2157984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1"/>
          <p:cNvSpPr/>
          <p:nvPr/>
        </p:nvSpPr>
        <p:spPr>
          <a:xfrm>
            <a:off x="3721608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concurrente SSLServerSocket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502152" y="2706624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Text 23"/>
          <p:cNvSpPr/>
          <p:nvPr/>
        </p:nvSpPr>
        <p:spPr>
          <a:xfrm>
            <a:off x="3721608" y="2651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enrutado de mensajes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3502152" y="3255264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5"/>
          <p:cNvSpPr/>
          <p:nvPr/>
        </p:nvSpPr>
        <p:spPr>
          <a:xfrm>
            <a:off x="3721608" y="3200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sesiones (tokens UUID)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3502152" y="3803904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7"/>
          <p:cNvSpPr/>
          <p:nvPr/>
        </p:nvSpPr>
        <p:spPr>
          <a:xfrm>
            <a:off x="3721608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SQLite vía JDBC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208776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29"/>
          <p:cNvSpPr/>
          <p:nvPr/>
        </p:nvSpPr>
        <p:spPr>
          <a:xfrm>
            <a:off x="6208776" y="1143000"/>
            <a:ext cx="278892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207008"/>
            <a:ext cx="420624" cy="42062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08776" y="16642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36" name="Shape 31"/>
          <p:cNvSpPr/>
          <p:nvPr/>
        </p:nvSpPr>
        <p:spPr>
          <a:xfrm>
            <a:off x="6446520" y="215798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Text 32"/>
          <p:cNvSpPr/>
          <p:nvPr/>
        </p:nvSpPr>
        <p:spPr>
          <a:xfrm>
            <a:off x="6665976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Swing — interfaz gráfica de usuario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6446520" y="270662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9" name="Text 34"/>
          <p:cNvSpPr/>
          <p:nvPr/>
        </p:nvSpPr>
        <p:spPr>
          <a:xfrm>
            <a:off x="6665976" y="2651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gestión de claves RSA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6446520" y="325526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1" name="Text 36"/>
          <p:cNvSpPr/>
          <p:nvPr/>
        </p:nvSpPr>
        <p:spPr>
          <a:xfrm>
            <a:off x="6665976" y="3200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E2E local antes de enviar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6446520" y="380390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3" name="Text 38"/>
          <p:cNvSpPr/>
          <p:nvPr/>
        </p:nvSpPr>
        <p:spPr>
          <a:xfrm>
            <a:off x="6665976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consola para Docker (headless)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Protocolo de Aplicación JSON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= una línea JSON · TipoPaquete determina el procesamiento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5212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5212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02920" y="1115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TipoPaquete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11155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1155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1517904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1517904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1517904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+ clave pública RSA-2048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851660"/>
            <a:ext cx="5212080" cy="33375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75488" y="1851660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INICIO_SESION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1851660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1851660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→ devuelve token UUID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185416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2185416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2185416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E2E cifrado (prefijo E2E1:)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519172"/>
            <a:ext cx="5212080" cy="33375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475488" y="2519172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BANDEJA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48840" y="2519172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0360" y="2519172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historial del usuario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2852928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2852928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usuarios registrados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186684"/>
            <a:ext cx="5212080" cy="33375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475488" y="3186684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CIERRE_SESION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3186684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3186684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 el token en GestorSesiones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3520440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48840" y="3520440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80360" y="3520440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 tiempo real al destinatario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854196"/>
            <a:ext cx="5212080" cy="33375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475488" y="3854196"/>
            <a:ext cx="1627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/ ERROR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48840" y="3854196"/>
            <a:ext cx="6583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80360" y="3854196"/>
            <a:ext cx="24871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confirmación o error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1115568"/>
            <a:ext cx="31546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2" name="Text 40"/>
          <p:cNvSpPr/>
          <p:nvPr/>
        </p:nvSpPr>
        <p:spPr>
          <a:xfrm>
            <a:off x="5852160" y="1188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Paquete ENVIAR: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1499616"/>
            <a:ext cx="2880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"tipo": "ENVIAR",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"token": "a3f8-uuid...",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"destinatario": "ana",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"contenido":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"E2E1:AQIDBAUGBw...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=="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15000" y="3154680"/>
            <a:ext cx="3154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5" name="Text 43"/>
          <p:cNvSpPr/>
          <p:nvPr/>
        </p:nvSpPr>
        <p:spPr>
          <a:xfrm>
            <a:off x="5852160" y="3218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servidor: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52160" y="3547872"/>
            <a:ext cx="182880" cy="18288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7" name="Text 45"/>
          <p:cNvSpPr/>
          <p:nvPr/>
        </p:nvSpPr>
        <p:spPr>
          <a:xfrm>
            <a:off x="5852160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99048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línea JSON del socket TLS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3776472"/>
            <a:ext cx="182880" cy="18288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0" name="Text 48"/>
          <p:cNvSpPr/>
          <p:nvPr/>
        </p:nvSpPr>
        <p:spPr>
          <a:xfrm>
            <a:off x="5852160" y="3776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99048" y="37581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Deserializar → objeto Paquete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52160" y="4005072"/>
            <a:ext cx="182880" cy="18288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3" name="Text 51"/>
          <p:cNvSpPr/>
          <p:nvPr/>
        </p:nvSpPr>
        <p:spPr>
          <a:xfrm>
            <a:off x="585216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99048" y="39867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token UUID de sesión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52160" y="4233672"/>
            <a:ext cx="182880" cy="18288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6" name="Text 54"/>
          <p:cNvSpPr/>
          <p:nvPr/>
        </p:nvSpPr>
        <p:spPr>
          <a:xfrm>
            <a:off x="5852160" y="4233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99048" y="42153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según TipoPaquete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52160" y="4462272"/>
            <a:ext cx="182880" cy="18288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9" name="Text 57"/>
          <p:cNvSpPr/>
          <p:nvPr/>
        </p:nvSpPr>
        <p:spPr>
          <a:xfrm>
            <a:off x="585216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99048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Serializar y enviar respuesta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Modelo de Seguridad — Defensa en Profundidad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independientes — el fallo de una no compromete las demás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88920" cy="9601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43560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2139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/ 1.3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24323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Seguro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" y="2706624"/>
            <a:ext cx="2386584" cy="1828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2"/>
          <p:cNvSpPr/>
          <p:nvPr/>
        </p:nvSpPr>
        <p:spPr>
          <a:xfrm>
            <a:off x="548640" y="2798064"/>
            <a:ext cx="146304" cy="146304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3"/>
          <p:cNvSpPr/>
          <p:nvPr/>
        </p:nvSpPr>
        <p:spPr>
          <a:xfrm>
            <a:off x="758952" y="276148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el canal TCP completo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146304" cy="146304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5"/>
          <p:cNvSpPr/>
          <p:nvPr/>
        </p:nvSpPr>
        <p:spPr>
          <a:xfrm>
            <a:off x="758952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SHA-256 validado por huella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7"/>
          <p:cNvSpPr/>
          <p:nvPr/>
        </p:nvSpPr>
        <p:spPr>
          <a:xfrm>
            <a:off x="758952" y="3749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MITM y sniffing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79392"/>
            <a:ext cx="146304" cy="146304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19"/>
          <p:cNvSpPr/>
          <p:nvPr/>
        </p:nvSpPr>
        <p:spPr>
          <a:xfrm>
            <a:off x="758952" y="42428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8446 — Forward Secrecy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64408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4" name="Shape 21"/>
          <p:cNvSpPr/>
          <p:nvPr/>
        </p:nvSpPr>
        <p:spPr>
          <a:xfrm>
            <a:off x="3264408" y="1143000"/>
            <a:ext cx="2788920" cy="960120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2"/>
          <p:cNvSpPr/>
          <p:nvPr/>
        </p:nvSpPr>
        <p:spPr>
          <a:xfrm>
            <a:off x="3264408" y="1161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35608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264408" y="2139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AES-256-GCM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264408" y="24323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Extremo a Extremo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65576" y="2706624"/>
            <a:ext cx="2386584" cy="1828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Shape 26"/>
          <p:cNvSpPr/>
          <p:nvPr/>
        </p:nvSpPr>
        <p:spPr>
          <a:xfrm>
            <a:off x="3493008" y="2798064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7"/>
          <p:cNvSpPr/>
          <p:nvPr/>
        </p:nvSpPr>
        <p:spPr>
          <a:xfrm>
            <a:off x="3703320" y="276148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 puede leer mensajes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493008" y="3291840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Text 29"/>
          <p:cNvSpPr/>
          <p:nvPr/>
        </p:nvSpPr>
        <p:spPr>
          <a:xfrm>
            <a:off x="370332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E2E1: almacenado en SQLite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493008" y="3785616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5" name="Text 31"/>
          <p:cNvSpPr/>
          <p:nvPr/>
        </p:nvSpPr>
        <p:spPr>
          <a:xfrm>
            <a:off x="3703320" y="3749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OAEP-SHA256 + GCM tag 128-bit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3493008" y="4279392"/>
            <a:ext cx="146304" cy="146304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Text 33"/>
          <p:cNvSpPr/>
          <p:nvPr/>
        </p:nvSpPr>
        <p:spPr>
          <a:xfrm>
            <a:off x="3703320" y="42428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privada NUNCA sale del cliente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208776" y="114300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9" name="Shape 35"/>
          <p:cNvSpPr/>
          <p:nvPr/>
        </p:nvSpPr>
        <p:spPr>
          <a:xfrm>
            <a:off x="6208776" y="1143000"/>
            <a:ext cx="2788920" cy="960120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0" name="Text 36"/>
          <p:cNvSpPr/>
          <p:nvPr/>
        </p:nvSpPr>
        <p:spPr>
          <a:xfrm>
            <a:off x="6208776" y="1161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1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435608"/>
            <a:ext cx="457200" cy="4572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208776" y="2139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Factor 12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208776" y="24323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Irreversibles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409944" y="2706624"/>
            <a:ext cx="2386584" cy="1828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5" name="Shape 40"/>
          <p:cNvSpPr/>
          <p:nvPr/>
        </p:nvSpPr>
        <p:spPr>
          <a:xfrm>
            <a:off x="6437376" y="2798064"/>
            <a:ext cx="146304" cy="146304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6" name="Text 41"/>
          <p:cNvSpPr/>
          <p:nvPr/>
        </p:nvSpPr>
        <p:spPr>
          <a:xfrm>
            <a:off x="6647688" y="276148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2¹² = 4,096 rondas Eksblowfish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437376" y="3291840"/>
            <a:ext cx="146304" cy="146304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8" name="Text 43"/>
          <p:cNvSpPr/>
          <p:nvPr/>
        </p:nvSpPr>
        <p:spPr>
          <a:xfrm>
            <a:off x="6647688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de 128 bits por usuario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6437376" y="3785616"/>
            <a:ext cx="146304" cy="146304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0" name="Text 45"/>
          <p:cNvSpPr/>
          <p:nvPr/>
        </p:nvSpPr>
        <p:spPr>
          <a:xfrm>
            <a:off x="6647688" y="3749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60 chars — no reversible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6437376" y="4279392"/>
            <a:ext cx="146304" cy="146304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2" name="Text 47"/>
          <p:cNvSpPr/>
          <p:nvPr/>
        </p:nvSpPr>
        <p:spPr>
          <a:xfrm>
            <a:off x="6647688" y="42428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 por intento → resiste GPU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Cifrado E2E — RSA-2048 + AES-256-GCM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híbrido: criptografía asimétrica para la clave + simétrica para el contenido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cryp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8412480" cy="358444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Base de Datos SQLite — Diagrama 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almacenados como blobs cifrados E2E · Migración automática de esquema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4930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Diccionario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tipos y restricciones de las dos tablas principales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usuarios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4447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7922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17922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1792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autoincremental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4206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21031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103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único en minúsculas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414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hash_contrasena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24140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BCrypt-12 (60 chars)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4206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57200" y="27249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clave_publica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83080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RSA-2048 en Base64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035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3080" y="30358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06040" y="3035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ISO 8601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11155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mensajes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44475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31"/>
          <p:cNvSpPr/>
          <p:nvPr/>
        </p:nvSpPr>
        <p:spPr>
          <a:xfrm>
            <a:off x="4754880" y="1444752"/>
            <a:ext cx="4206240" cy="347472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489204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14447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1444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17922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17922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40880" y="1792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autoincremental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2103120"/>
            <a:ext cx="4206240" cy="310896"/>
          </a:xfrm>
          <a:prstGeom prst="rect">
            <a:avLst/>
          </a:prstGeom>
          <a:solidFill>
            <a:srgbClr val="EAF9F2"/>
          </a:solidFill>
          <a:ln w="12700">
            <a:solidFill>
              <a:srgbClr val="EAF9F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1" name="Text 39"/>
          <p:cNvSpPr/>
          <p:nvPr/>
        </p:nvSpPr>
        <p:spPr>
          <a:xfrm>
            <a:off x="4892040" y="21031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remitente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21031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40880" y="2103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usuarios.usuario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414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destinatario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0" y="24140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usuarios.usuario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2724912"/>
            <a:ext cx="4206240" cy="310896"/>
          </a:xfrm>
          <a:prstGeom prst="rect">
            <a:avLst/>
          </a:prstGeom>
          <a:solidFill>
            <a:srgbClr val="EAF9F2"/>
          </a:solidFill>
          <a:ln w="12700">
            <a:solidFill>
              <a:srgbClr val="EAF9F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8" name="Text 46"/>
          <p:cNvSpPr/>
          <p:nvPr/>
        </p:nvSpPr>
        <p:spPr>
          <a:xfrm>
            <a:off x="4892040" y="27249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27249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40880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cifrado E2E con E2E1: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3035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enviado_en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17920" y="303580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040880" y="3035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ISO 8601 de envío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456432"/>
            <a:ext cx="8641080" cy="1115568"/>
          </a:xfrm>
          <a:prstGeom prst="rect">
            <a:avLst/>
          </a:prstGeom>
          <a:solidFill>
            <a:srgbClr val="FFF8E6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5" name="Shape 53"/>
          <p:cNvSpPr/>
          <p:nvPr/>
        </p:nvSpPr>
        <p:spPr>
          <a:xfrm>
            <a:off x="320040" y="3456432"/>
            <a:ext cx="64008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6" name="Text 54"/>
          <p:cNvSpPr/>
          <p:nvPr/>
        </p:nvSpPr>
        <p:spPr>
          <a:xfrm>
            <a:off x="502920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automática de esquema: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02920" y="3803904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el servidor se detecta si existen tablas en inglés (users / messages) de versiones anteriores. Los datos se copian automáticamente a las tablas en español y las tablas obsoletas se eliminan. La migración es forward-only y transparente para los clientes.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Gestión de Concurrencia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hilo por cliente — estructuras thread-safe — acceso sincronizado a recursos compartidos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8892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5087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856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SSLServerSocket.accept()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principal dedicado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2478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exclusivamente a nuevas conexiones TLS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64408" y="114300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Shape 12"/>
          <p:cNvSpPr/>
          <p:nvPr/>
        </p:nvSpPr>
        <p:spPr>
          <a:xfrm>
            <a:off x="3264408" y="1143000"/>
            <a:ext cx="2788920" cy="310896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5087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64408" y="1856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 (pool dinámico)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6440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ejecuta su propio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64408" y="2478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ManejadorCliente en un hilo del pool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08776" y="114300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7"/>
          <p:cNvSpPr/>
          <p:nvPr/>
        </p:nvSpPr>
        <p:spPr>
          <a:xfrm>
            <a:off x="6208776" y="1143000"/>
            <a:ext cx="2788920" cy="310896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50876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8776" y="1856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8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 — Sesiones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208776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tokens UUID activos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08776" y="2478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sin bloqueo global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0040" y="295351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7" name="Shape 22"/>
          <p:cNvSpPr/>
          <p:nvPr/>
        </p:nvSpPr>
        <p:spPr>
          <a:xfrm>
            <a:off x="320040" y="2953512"/>
            <a:ext cx="2788920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" y="331927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0040" y="36667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 — Online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320040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conectados en tiempo real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20040" y="42885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inmediata entre hilos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64408" y="295351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27"/>
          <p:cNvSpPr/>
          <p:nvPr/>
        </p:nvSpPr>
        <p:spPr>
          <a:xfrm>
            <a:off x="3264408" y="2953512"/>
            <a:ext cx="2788920" cy="310896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319272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264408" y="36667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(SQLite)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264408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serializado a BaseDatosSqlite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264408" y="42885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condiciones de carrera en BD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08776" y="295351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9" name="Shape 32"/>
          <p:cNvSpPr/>
          <p:nvPr/>
        </p:nvSpPr>
        <p:spPr>
          <a:xfrm>
            <a:off x="6208776" y="2953512"/>
            <a:ext cx="2788920" cy="310896"/>
          </a:xfrm>
          <a:prstGeom prst="rect">
            <a:avLst/>
          </a:prstGeom>
          <a:solidFill>
            <a:srgbClr val="6B48C4"/>
          </a:solidFill>
          <a:ln w="12700">
            <a:solidFill>
              <a:srgbClr val="6B48C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3319272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08776" y="36667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4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(socket write)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208776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atómica en EntradaSalidaConexion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208776" y="42885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intercalado de mensajes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Diagrama de Clases UML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server · common · client — relaciones y responsabilidades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5661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Diagrama de Casos de Uso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Actores: Usuario y Administrador — 9 casos de uso principales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680960" cy="358444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Diagrama de Secuencia — Envío E2E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cifrado local → canal TLS → servidor → push al destinatario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5661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Flujo de Autenticación y Sesión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conexión TLS hasta la obtención del token UUID de sesión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pic>
        <p:nvPicPr>
          <p:cNvPr id="8" name="Image 0" descr="/home/claude/img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840480" cy="3611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4343400" y="10972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7"/>
          <p:cNvSpPr/>
          <p:nvPr/>
        </p:nvSpPr>
        <p:spPr>
          <a:xfrm>
            <a:off x="4343400" y="1097280"/>
            <a:ext cx="64008" cy="7772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4572000" y="1261872"/>
            <a:ext cx="402336" cy="402336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45720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65776" y="11704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TLS :9443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65776" y="14630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SSLServerSocket acepta la conexión y el cliente valida la huella SHA-256 del certificado del servidor.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1993392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4343400" y="1993392"/>
            <a:ext cx="64008" cy="777240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4"/>
          <p:cNvSpPr/>
          <p:nvPr/>
        </p:nvSpPr>
        <p:spPr>
          <a:xfrm>
            <a:off x="4572000" y="2157984"/>
            <a:ext cx="402336" cy="402336"/>
          </a:xfrm>
          <a:prstGeom prst="ellipse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5"/>
          <p:cNvSpPr/>
          <p:nvPr/>
        </p:nvSpPr>
        <p:spPr>
          <a:xfrm>
            <a:off x="457200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65776" y="2066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 Login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65776" y="23591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nuevo usuario: genera par RSA-2048, envía clave pública al servidor, hash BCrypt almacenado.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43400" y="2889504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2" name="Shape 19"/>
          <p:cNvSpPr/>
          <p:nvPr/>
        </p:nvSpPr>
        <p:spPr>
          <a:xfrm>
            <a:off x="4343400" y="2889504"/>
            <a:ext cx="64008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Shape 20"/>
          <p:cNvSpPr/>
          <p:nvPr/>
        </p:nvSpPr>
        <p:spPr>
          <a:xfrm>
            <a:off x="4572000" y="3054096"/>
            <a:ext cx="402336" cy="40233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1"/>
          <p:cNvSpPr/>
          <p:nvPr/>
        </p:nvSpPr>
        <p:spPr>
          <a:xfrm>
            <a:off x="457200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2962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BCrypt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65776" y="32552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compara la contraseña con el hash almacenado usando BCrypt.checkpw() — nunca texto plano.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43400" y="3785616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8" name="Shape 25"/>
          <p:cNvSpPr/>
          <p:nvPr/>
        </p:nvSpPr>
        <p:spPr>
          <a:xfrm>
            <a:off x="4343400" y="3785616"/>
            <a:ext cx="64008" cy="777240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Shape 26"/>
          <p:cNvSpPr/>
          <p:nvPr/>
        </p:nvSpPr>
        <p:spPr>
          <a:xfrm>
            <a:off x="4572000" y="3950208"/>
            <a:ext cx="402336" cy="402336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7"/>
          <p:cNvSpPr/>
          <p:nvPr/>
        </p:nvSpPr>
        <p:spPr>
          <a:xfrm>
            <a:off x="457200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65776" y="38587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UUID de sesión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65776" y="41513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GestorSesiones genera un UUID que identifica la sesión. Todos los comandos posteriores lo requieren.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Despliegue Distribuido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Workstation + Ubuntu Desktop como método principal de producción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20624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12344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Servidor Ubuntu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1563624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051560" y="1563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./iniciar-servidor.sh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947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Monitor Swing + proceso TLS en puerto 9443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20624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89204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12344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certificado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563624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5486400" y="1563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certs/ → VM cliente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947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validar la huella SHA-256 del servidor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77063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3" name="Shape 21"/>
          <p:cNvSpPr/>
          <p:nvPr/>
        </p:nvSpPr>
        <p:spPr>
          <a:xfrm>
            <a:off x="320040" y="2770632"/>
            <a:ext cx="420624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51560" y="286207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Cliente Ubuntu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560" y="3191256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105156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./iniciar-cliente.sh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575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la IP del servidor — GUI Swing inicia la conexión TLS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77063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0" name="Shape 28"/>
          <p:cNvSpPr/>
          <p:nvPr/>
        </p:nvSpPr>
        <p:spPr>
          <a:xfrm>
            <a:off x="4754880" y="2770632"/>
            <a:ext cx="420624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48920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86400" y="286207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TLS remota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3191256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548640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active-cert.sha256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575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verifica la huella del certificado — evita MITM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4407408"/>
            <a:ext cx="86410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7" name="Shape 35"/>
          <p:cNvSpPr/>
          <p:nvPr/>
        </p:nvSpPr>
        <p:spPr>
          <a:xfrm>
            <a:off x="320040" y="4407408"/>
            <a:ext cx="64008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502920" y="44074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Docker Compose (legado):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11880" y="440740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— Clientes en modo consola con HEADLESS=true — Sin interfaz gráfica Swing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Incidencias Conocidas y Soluciones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encontrados durante el desarrollo y cómo fueron resueltos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64008" cy="658368"/>
          </a:xfrm>
          <a:prstGeom prst="rect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502920" y="12070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98448" y="1170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no confiable en clientes remotos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463040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98448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Validación explícita por huella SHA-256 — archivo certs/active-cert.sha256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837944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320040" y="1837944"/>
            <a:ext cx="6400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502920" y="1929384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502920" y="192938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98448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Java Swing no arranca en Docker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2185416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02920" y="21854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98448" y="2167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Detección de entorno headless con HEADLESS=true — modo consola alternativo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56032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64008" cy="6583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Shape 24"/>
          <p:cNvSpPr/>
          <p:nvPr/>
        </p:nvSpPr>
        <p:spPr>
          <a:xfrm>
            <a:off x="502920" y="2651760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502920" y="26517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98448" y="2615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9 incompatible con el proyecto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2907792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502920" y="2907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98448" y="2889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Versión bloqueada a Gradle 8.7 mediante wrapper gradlew.bat en todos los scripts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282696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31"/>
          <p:cNvSpPr/>
          <p:nvPr/>
        </p:nvSpPr>
        <p:spPr>
          <a:xfrm>
            <a:off x="320040" y="3282696"/>
            <a:ext cx="64008" cy="658368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Shape 32"/>
          <p:cNvSpPr/>
          <p:nvPr/>
        </p:nvSpPr>
        <p:spPr>
          <a:xfrm>
            <a:off x="502920" y="3374136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/>
          <p:nvPr/>
        </p:nvSpPr>
        <p:spPr>
          <a:xfrm>
            <a:off x="502920" y="33741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98448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intercalados en el socket TCP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3630168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502920" y="36301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298448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Escritura sincronizada en EntradaSalidaConexion — un hilo escribe a la vez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005072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1" name="Shape 39"/>
          <p:cNvSpPr/>
          <p:nvPr/>
        </p:nvSpPr>
        <p:spPr>
          <a:xfrm>
            <a:off x="320040" y="4005072"/>
            <a:ext cx="64008" cy="658368"/>
          </a:xfrm>
          <a:prstGeom prst="rect">
            <a:avLst/>
          </a:prstGeom>
          <a:solidFill>
            <a:srgbClr val="6B48C4"/>
          </a:solidFill>
          <a:ln w="12700">
            <a:solidFill>
              <a:srgbClr val="6B48C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2" name="Shape 40"/>
          <p:cNvSpPr/>
          <p:nvPr/>
        </p:nvSpPr>
        <p:spPr>
          <a:xfrm>
            <a:off x="502920" y="4096512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6B48C4"/>
          </a:solidFill>
          <a:ln w="12700">
            <a:solidFill>
              <a:srgbClr val="6B48C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3" name="Text 41"/>
          <p:cNvSpPr/>
          <p:nvPr/>
        </p:nvSpPr>
        <p:spPr>
          <a:xfrm>
            <a:off x="502920" y="40965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298448" y="40599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base de datos en inglés (legado)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4352544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6" name="Text 44"/>
          <p:cNvSpPr/>
          <p:nvPr/>
        </p:nvSpPr>
        <p:spPr>
          <a:xfrm>
            <a:off x="502920" y="43525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298448" y="4334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Migración automática al arrancar el servidor — users→usuarios, messages→mensajes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técnicos, lecciones aprendidas y fortalezas del sistema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206240" cy="64008"/>
          </a:xfrm>
          <a:prstGeom prst="rect">
            <a:avLst/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5720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12710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real garantizada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cifrado RSA-2048 + AES-256-GCM impide que el servidor, la base de datos o los logs puedan acceder al contenido de los mensajes. Solo el destinatario puede descifrar.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206240" cy="6400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489204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2710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profundidad (STRIDE)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92040" y="170992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E2E + BCrypt-12 cubren las seis categorías de amenaza del modelo STRIDE, alineado con las recomendaciones NIST SP 800-207 (Zero Trust Architecture).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42062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4572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0998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sin condiciones de carrera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ExecutorService, ConcurrentHashMap y bloques synchronized garantizan consistencia en escenarios multicliente sin degradar el rendimiento del servidor.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206240" cy="64008"/>
          </a:xfrm>
          <a:prstGeom prst="rect">
            <a:avLst/>
          </a:prstGeom>
          <a:solidFill>
            <a:srgbClr val="6B48C4"/>
          </a:solidFill>
          <a:ln w="12700">
            <a:solidFill>
              <a:srgbClr val="6B48C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8920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4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30998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y extensible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92040" y="353872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Gradle (common/server/client) permiten incorporar nuevas funcionalidades — grupos, archivos, notificaciones — sin romper la compatibilidad existente.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Referencias Bibliográficas (APA 7.ª ed.)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académicas y técnicas que fundamentan el diseño del sistema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4873752"/>
            <a:ext cx="1737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21208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Stallings, W. (2022).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and Network Security: Principles and Practice(8.ª ed.). Pearson.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320040" y="2039112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21208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Rescorla, E. (2018).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2404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Layer Security (TLS) Protocol Version 1.3 (RFC 8446). IETF.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521208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 (2020).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300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Architecture(SP 800-207). NIST.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31336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21208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Dworkin, M. J. (2007).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4197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for GCM and GMAC(SP 800-38D). NIST.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4709160" y="1143000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910328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Ferguson, N., Schneier, B., &amp; Kohno, T. (2010).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Engineering. Wiley.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039112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Shape 27"/>
          <p:cNvSpPr/>
          <p:nvPr/>
        </p:nvSpPr>
        <p:spPr>
          <a:xfrm>
            <a:off x="4709160" y="2039112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4910328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Goetz, B. et al. (2006).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2404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in Practice. Addison-Wesley.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935224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31"/>
          <p:cNvSpPr/>
          <p:nvPr/>
        </p:nvSpPr>
        <p:spPr>
          <a:xfrm>
            <a:off x="4709160" y="2935224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4910328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R. C. (2017).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300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Architecture: A Craftsman's Guide. Prentice Hall.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831336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7" name="Shape 35"/>
          <p:cNvSpPr/>
          <p:nvPr/>
        </p:nvSpPr>
        <p:spPr>
          <a:xfrm>
            <a:off x="4709160" y="3831336"/>
            <a:ext cx="64008" cy="78638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4910328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Provos, N. &amp; Mazières, D. (1999).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4197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Future-Adaptable Password Scheme. USENIX ATC.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7315200" cy="7315200"/>
          </a:xfrm>
          <a:prstGeom prst="ellipse">
            <a:avLst/>
          </a:prstGeom>
          <a:solidFill>
            <a:srgbClr val="2E5FAC">
              <a:alpha val="20000"/>
            </a:srgbClr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5029200" cy="5029200"/>
          </a:xfrm>
          <a:prstGeom prst="ellipse">
            <a:avLst/>
          </a:prstGeom>
          <a:solidFill>
            <a:srgbClr val="1A8C6B">
              <a:alpha val="16000"/>
            </a:srgbClr>
          </a:solidFill>
          <a:ln w="12700">
            <a:solidFill>
              <a:srgbClr val="1A8C6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Mensajería Cifrada Distribuida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48056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1.2/1.3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37944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1837944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227832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7608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6007608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E2E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97496" y="35661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7397496" y="35661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2E5FAC">
              <a:alpha val="40000"/>
            </a:srgbClr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274320" y="440740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Carlos de Guatemala  ·  Facultad de Ingeniería  ·  Versión 1.0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1669</Words>
  <Application>Microsoft Office PowerPoint</Application>
  <PresentationFormat>Presentación en pantalla (16:9)</PresentationFormat>
  <Paragraphs>340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Mensajería Cifrada Distribuida</dc:title>
  <dc:subject>PptxGenJS Presentation</dc:subject>
  <dc:creator>PptxGenJS</dc:creator>
  <cp:lastModifiedBy>Eliseo Velásquez</cp:lastModifiedBy>
  <cp:revision>2</cp:revision>
  <dcterms:created xsi:type="dcterms:W3CDTF">2026-06-06T21:31:38Z</dcterms:created>
  <dcterms:modified xsi:type="dcterms:W3CDTF">2026-06-09T02:40:05Z</dcterms:modified>
</cp:coreProperties>
</file>